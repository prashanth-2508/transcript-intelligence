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955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thesis, not the method: "We looked at 100 calls across support, account management, and internal engineering. Three of the most useful things in there weren't the two things we were asked to find — they were things that connect engineering reliability directly to revenue risk. That's where I want to spend most of today."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expectations that this is insight-first. "I'll go deep on process only where the how changes what you should trust about the what."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exists to establish credibility for later claims — "when I say we validated X, here's what we validated it against."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Quick, confident, move on. This is groundwork, not an insight — don't oversell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"These three came directly out of the same data — no new collection needed." (reuse framing note for section dividers as needed)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"No category is empty, none dominates unreasonably — this maps cleanly onto how a support lead, a PM, and an AM would each already think about their world."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is doing real work — it shows you iterated and diagnosed a bad result instead of reporting the first number you got. If the panel only remembers one "how we think" slide, make it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"We're not claiming perfect separation — a perfect score here would actually worry me, it'd suggest overfitting to exact wording. This is what genuine, checked confidence looks like."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Ground the taxonomy in real language before moving to sentiment — makes the next section land harder.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"We didn't rebuild sentiment analysis from scratch — that would've just been a noisier copy of work already done well upstream. We checked it, trusted it, and spent our energy on what it means instead."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"Unsurprising on its own — support calls run coldest because customers only file a ticket when something's already broken. The more interesting story is when each type dips, not just its baseline."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"This is actionable in a way 'improve customer sentiment' isn't. Customers aren't generally unhappy — reliability and bug-resolution conversations are specifically where the temperature drops. That's a narrow, fixable target."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Slow down here. Walk the line left to right. "Internal absorbs the shock first — that's the war room. External drops nearly as fast — AMs are having hard calls in real time. But look at support — it doesn't recover with the others. It stays cold for two more weeks. That's the long tail nobody's tracking today."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bridge slide into the bonus section — reliability is a commercial risk, not just an engineering KPI, and we can now put a number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"This turns 'we should invest more in reliability' from an opinion into a quantified trade-off. One pipeline failure touched almost half our active book in three weeks."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"The point isn't the score — it's that a CS or sales leader gets a prioritized list to act on before the renewal conversation, instead of discovering risk during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Don't oversell this one. "We're showing you a metric that didn't find a dramatic problem in this sample — but it's cheap to compute at scale, and it's exactly the kind of thing a support manager would want per-rep once call volume is real, to catch someone talking over customers on calls that should be discovery-oriented."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"We'd rather tell you clearly what these are and why they matter than ship a half version of each."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Make these concrete and ownable — who would do #1, #2, etc. Shows product/eng thinking, not just data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Have the notebook open and ready — panel was told they may ask to see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1371600"/>
            <a:ext cx="5029200" cy="5029200"/>
          </a:xfrm>
          <a:prstGeom prst="ellipse">
            <a:avLst/>
          </a:prstGeom>
          <a:solidFill>
            <a:srgbClr val="28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24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CADCFC"/>
                </a:solidFill>
                <a:latin typeface="Calibri"/>
              </a:rPr>
              <a:t>TRANSCRIPT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98755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800" b="1" i="0" dirty="0">
                <a:solidFill>
                  <a:srgbClr val="FFFFFF"/>
                </a:solidFill>
                <a:latin typeface="Calibri"/>
              </a:rPr>
              <a:t>Findings from 100 Customer &amp; Internal Calls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0" i="1" dirty="0">
                <a:solidFill>
                  <a:srgbClr val="CADCFC"/>
                </a:solidFill>
                <a:latin typeface="Calibri"/>
              </a:rPr>
              <a:t>What our support, sales, and internal calls are already telling us — and what to do about it.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C09990-8091-ACD9-315B-FE9D27CE20CD}"/>
              </a:ext>
            </a:extLst>
          </p:cNvPr>
          <p:cNvSpPr txBox="1"/>
          <p:nvPr/>
        </p:nvSpPr>
        <p:spPr>
          <a:xfrm>
            <a:off x="133227" y="6532096"/>
            <a:ext cx="896112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700" b="0" i="1" dirty="0">
                <a:solidFill>
                  <a:srgbClr val="CADCFC"/>
                </a:solidFill>
                <a:latin typeface="Calibri"/>
              </a:rPr>
              <a:t>Prashanth Kumar G V | Assignment submission – 10-July- 2026</a:t>
            </a:r>
            <a:endParaRPr sz="1700" b="0" i="1" dirty="0">
              <a:solidFill>
                <a:srgbClr val="CADCF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Calibri"/>
              </a:rPr>
              <a:t>How today is structured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777240"/>
          </a:xfrm>
          <a:prstGeom prst="roundRect">
            <a:avLst>
              <a:gd name="adj" fmla="val 15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170992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664207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 i="0">
                <a:solidFill>
                  <a:srgbClr val="2A2E3A"/>
                </a:solidFill>
                <a:latin typeface="Calibri"/>
              </a:rPr>
              <a:t>How we approached the data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  — 30 seconds — the how, not the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0881360" cy="777240"/>
          </a:xfrm>
          <a:prstGeom prst="roundRect">
            <a:avLst>
              <a:gd name="adj" fmla="val 15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262432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78608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 i="0">
                <a:solidFill>
                  <a:srgbClr val="2A2E3A"/>
                </a:solidFill>
                <a:latin typeface="Calibri"/>
              </a:rPr>
              <a:t>What the calls are about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  — categorization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10881360" cy="777240"/>
          </a:xfrm>
          <a:prstGeom prst="roundRect">
            <a:avLst>
              <a:gd name="adj" fmla="val 15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353872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493008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 i="0">
                <a:solidFill>
                  <a:srgbClr val="2A2E3A"/>
                </a:solidFill>
                <a:latin typeface="Calibri"/>
              </a:rPr>
              <a:t>What people actually feel on these calls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  — sentiment, and the one trend that matters most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97680"/>
            <a:ext cx="10881360" cy="777240"/>
          </a:xfrm>
          <a:prstGeom prst="roundRect">
            <a:avLst>
              <a:gd name="adj" fmla="val 15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8680" y="445312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407408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 i="0">
                <a:solidFill>
                  <a:srgbClr val="2A2E3A"/>
                </a:solidFill>
                <a:latin typeface="Calibri"/>
              </a:rPr>
              <a:t>Three things beyond the ask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  — with a live example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12080"/>
            <a:ext cx="10881360" cy="777240"/>
          </a:xfrm>
          <a:prstGeom prst="roundRect">
            <a:avLst>
              <a:gd name="adj" fmla="val 15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8680" y="536752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321808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 i="0">
                <a:solidFill>
                  <a:srgbClr val="2A2E3A"/>
                </a:solidFill>
                <a:latin typeface="Calibri"/>
              </a:rPr>
              <a:t>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Calibri"/>
              </a:rPr>
              <a:t>The dataset, in one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331720" cy="1554480"/>
          </a:xfrm>
          <a:prstGeom prst="roundRect">
            <a:avLst>
              <a:gd name="adj" fmla="val 12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09928"/>
            <a:ext cx="2057400" cy="1335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1E2761"/>
                </a:solidFill>
                <a:latin typeface="Calibri"/>
              </a:rPr>
              <a:t>30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Internal calls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600200"/>
            <a:ext cx="2331720" cy="1554480"/>
          </a:xfrm>
          <a:prstGeom prst="roundRect">
            <a:avLst>
              <a:gd name="adj" fmla="val 12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46120" y="1709928"/>
            <a:ext cx="2057400" cy="1335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 dirty="0">
                <a:solidFill>
                  <a:srgbClr val="1E2761"/>
                </a:solidFill>
                <a:latin typeface="Calibri"/>
              </a:rPr>
              <a:t>30</a:t>
            </a:r>
          </a:p>
          <a:p>
            <a:pPr algn="ctr"/>
            <a:r>
              <a:rPr sz="1300" b="0" i="0" dirty="0">
                <a:solidFill>
                  <a:srgbClr val="6B7280"/>
                </a:solidFill>
                <a:latin typeface="Calibri"/>
              </a:rPr>
              <a:t>Support calls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600200"/>
            <a:ext cx="2331720" cy="1554480"/>
          </a:xfrm>
          <a:prstGeom prst="roundRect">
            <a:avLst>
              <a:gd name="adj" fmla="val 12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15000" y="1709928"/>
            <a:ext cx="2057400" cy="1335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1E2761"/>
                </a:solidFill>
                <a:latin typeface="Calibri"/>
              </a:rPr>
              <a:t>40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Account-management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(external)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108813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•  100 calls, 3 call types we had to infer ourselves</a:t>
            </a:r>
            <a:r>
              <a:rPr sz="1500" b="0" i="0">
                <a:solidFill>
                  <a:srgbClr val="2A2E3A"/>
                </a:solidFill>
                <a:latin typeface="Calibri"/>
              </a:rPr>
              <a:t>  — the dataset didn't label this.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•  Every call already carries an AI-extracted summary, topics, sentiment, and “key moments”</a:t>
            </a:r>
            <a:r>
              <a:rPr sz="1500" b="0" i="0">
                <a:solidFill>
                  <a:srgbClr val="2A2E3A"/>
                </a:solidFill>
                <a:latin typeface="Calibri"/>
              </a:rPr>
              <a:t>  — this isn't raw audio, it's a call-intelligence pipeline's output. We built on that signal rather than re-deriving it.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•  One company (“Aegis”), three products (Detect, Comply, Identity), ~35 active customer accounts, Feb–Apr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Calibri"/>
              </a:rPr>
              <a:t>How we inferred call type (no label existed)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4008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•  Signal 1: email-domain count</a:t>
            </a:r>
            <a:r>
              <a:rPr sz="1600" b="0" i="0">
                <a:solidFill>
                  <a:srgbClr val="2A2E3A"/>
                </a:solidFill>
                <a:latin typeface="Calibri"/>
              </a:rPr>
              <a:t>  1 domain on the call = internal; 2+ = a customer is present.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•  Signal 2: the company's own consistent title convention</a:t>
            </a:r>
            <a:r>
              <a:rPr sz="1600" b="0" i="0">
                <a:solidFill>
                  <a:srgbClr val="2A2E3A"/>
                </a:solidFill>
                <a:latin typeface="Calibri"/>
              </a:rPr>
              <a:t>  “Support Case #1234 - ...” or “Aegis / &lt;Customer&gt; - ...”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•  Result: 100% coverage, zero manual labeling, fully auditable.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737360"/>
            <a:ext cx="4114800" cy="3108960"/>
          </a:xfrm>
          <a:prstGeom prst="roundRect">
            <a:avLst>
              <a:gd name="adj" fmla="val 12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0" y="1965960"/>
            <a:ext cx="35661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Domain count</a:t>
            </a:r>
          </a:p>
          <a:p>
            <a:pPr algn="ctr">
              <a:spcAft>
                <a:spcPts val="1000"/>
              </a:spcAft>
            </a:pPr>
            <a:r>
              <a:rPr sz="2000" b="1" i="0">
                <a:solidFill>
                  <a:srgbClr val="6B7280"/>
                </a:solidFill>
                <a:latin typeface="Calibri"/>
              </a:rPr>
              <a:t>↓</a:t>
            </a:r>
          </a:p>
          <a:p>
            <a:pPr algn="ctr">
              <a:spcAft>
                <a:spcPts val="10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Title pattern</a:t>
            </a:r>
          </a:p>
          <a:p>
            <a:pPr algn="ctr">
              <a:spcAft>
                <a:spcPts val="1000"/>
              </a:spcAft>
            </a:pPr>
            <a:r>
              <a:rPr sz="2000" b="1" i="0">
                <a:solidFill>
                  <a:srgbClr val="6B7280"/>
                </a:solidFill>
                <a:latin typeface="Calibri"/>
              </a:rPr>
              <a:t>↓</a:t>
            </a:r>
          </a:p>
          <a:p>
            <a:pPr algn="ctr">
              <a:spcAft>
                <a:spcPts val="10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call_type label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CADCFC"/>
                </a:solidFill>
                <a:latin typeface="Calibri"/>
              </a:rP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What are these calls actually about?</a:t>
            </a:r>
          </a:p>
        </p:txBody>
      </p:sp>
      <p:sp>
        <p:nvSpPr>
          <p:cNvPr id="4" name="Oval 3"/>
          <p:cNvSpPr/>
          <p:nvPr/>
        </p:nvSpPr>
        <p:spPr>
          <a:xfrm>
            <a:off x="9692640" y="548640"/>
            <a:ext cx="2926080" cy="2926080"/>
          </a:xfrm>
          <a:prstGeom prst="ellipse">
            <a:avLst/>
          </a:prstGeom>
          <a:solidFill>
            <a:srgbClr val="28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CATEGORIZATION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Calibri"/>
              </a:rPr>
              <a:t>Nine categories, derived from how the business already talks</a:t>
            </a:r>
          </a:p>
        </p:txBody>
      </p:sp>
      <p:pic>
        <p:nvPicPr>
          <p:cNvPr id="4" name="Picture 3" descr="theme_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364" y="993304"/>
            <a:ext cx="6591260" cy="477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011680"/>
            <a:ext cx="4453030" cy="1241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2A2E3A"/>
                </a:solidFill>
                <a:latin typeface="Calibri"/>
              </a:rPr>
              <a:t>•  No category is empty.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2A2E3A"/>
                </a:solidFill>
                <a:latin typeface="Calibri"/>
              </a:rPr>
              <a:t>•  None dominates unreasonably.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2A2E3A"/>
                </a:solidFill>
                <a:latin typeface="Calibri"/>
              </a:rPr>
              <a:t>•  Maps cleanly onto how a support lead, a PM, and an AM would each already think about their world.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CATEGORIZATION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Calibri"/>
              </a:rPr>
              <a:t>Why hybrid — and a dead end we're glad we hit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1417320"/>
          </a:xfrm>
          <a:prstGeom prst="roundRect">
            <a:avLst>
              <a:gd name="adj" fmla="val 10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210312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17320" y="1764792"/>
            <a:ext cx="98755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2A2E3A"/>
                </a:solidFill>
                <a:latin typeface="Calibri"/>
              </a:rPr>
              <a:t>Attempt 1: pure clustering</a:t>
            </a:r>
          </a:p>
          <a:p>
            <a:r>
              <a:rPr sz="1350" b="0" i="0">
                <a:solidFill>
                  <a:srgbClr val="6B7280"/>
                </a:solidFill>
                <a:latin typeface="Calibri"/>
              </a:rPr>
              <a:t>Embedding-based KMeans topped out at silhouette ≈ 0.07 — too weak to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10881360" cy="1417320"/>
          </a:xfrm>
          <a:prstGeom prst="roundRect">
            <a:avLst>
              <a:gd name="adj" fmla="val 10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370332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17320" y="3364992"/>
            <a:ext cx="98755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2A2E3A"/>
                </a:solidFill>
                <a:latin typeface="Calibri"/>
              </a:rPr>
              <a:t>Attempt 2: naive topic-keyword rules</a:t>
            </a:r>
          </a:p>
          <a:p>
            <a:r>
              <a:rPr sz="1350" b="0" i="0">
                <a:solidFill>
                  <a:srgbClr val="6B7280"/>
                </a:solidFill>
                <a:latin typeface="Calibri"/>
              </a:rPr>
              <a:t>Put 55 of 100 calls into one “Incident” bucket — outage language bleeds into calls that merely reference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00600"/>
            <a:ext cx="10881360" cy="1417320"/>
          </a:xfrm>
          <a:prstGeom prst="roundRect">
            <a:avLst>
              <a:gd name="adj" fmla="val 10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5303520"/>
            <a:ext cx="320040" cy="32004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4965192"/>
            <a:ext cx="98755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2A2E3A"/>
                </a:solidFill>
                <a:latin typeface="Calibri"/>
              </a:rPr>
              <a:t>Attempt 3 (final): title-pattern-first, topics as tie-breaker</a:t>
            </a:r>
          </a:p>
          <a:p>
            <a:r>
              <a:rPr sz="1350" b="0" i="0">
                <a:solidFill>
                  <a:srgbClr val="6B7280"/>
                </a:solidFill>
                <a:latin typeface="Calibri"/>
              </a:rPr>
              <a:t>Company already names calls consistently. Fully explainable, zero API cost.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CATEGORIZATION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Calibri"/>
              </a:rPr>
              <a:t>We validated the taxonomy instead of taking it on faith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291840" cy="2011680"/>
          </a:xfrm>
          <a:prstGeom prst="roundRect">
            <a:avLst>
              <a:gd name="adj" fmla="val 12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3017520" cy="17922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5200" b="1" i="0">
                <a:solidFill>
                  <a:srgbClr val="27AE60"/>
                </a:solidFill>
                <a:latin typeface="Calibri"/>
              </a:rPr>
              <a:t>4%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of calls flagged as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closer to a different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theme than assigned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737360"/>
            <a:ext cx="3291840" cy="2011680"/>
          </a:xfrm>
          <a:prstGeom prst="roundRect">
            <a:avLst>
              <a:gd name="adj" fmla="val 12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0" y="1847088"/>
            <a:ext cx="3017520" cy="17922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5200" b="1" i="0">
                <a:solidFill>
                  <a:srgbClr val="1E2761"/>
                </a:solidFill>
                <a:latin typeface="Calibri"/>
              </a:rPr>
              <a:t>0.39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Adjusted Mutual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Info vs. an independent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clustering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20240"/>
            <a:ext cx="3749039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50" b="0" i="0">
                <a:solidFill>
                  <a:srgbClr val="2A2E3A"/>
                </a:solidFill>
                <a:latin typeface="Calibri"/>
              </a:rPr>
              <a:t>•  A healthy, low-ambiguity rate for real-world data — not zero, which would suggest overfitting to exact wording.</a:t>
            </a:r>
          </a:p>
          <a:p>
            <a:pPr>
              <a:spcAft>
                <a:spcPts val="1000"/>
              </a:spcAft>
            </a:pPr>
            <a:r>
              <a:rPr sz="1450" b="0" i="0">
                <a:solidFill>
                  <a:srgbClr val="2A2E3A"/>
                </a:solidFill>
                <a:latin typeface="Calibri"/>
              </a:rPr>
              <a:t>•  Moderate positive agreement between two independent methods (rule-based labels vs. unsupervised clustering).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CATEGORIZATION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Calibri"/>
              </a:rPr>
              <a:t>A category, made concrete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881360" cy="1417320"/>
          </a:xfrm>
          <a:prstGeom prst="roundRect">
            <a:avLst>
              <a:gd name="adj" fmla="val 10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libri"/>
              </a:rPr>
              <a:t>INCIDENT &amp; OUTAGE MANAGEMENT</a:t>
            </a:r>
          </a:p>
          <a:p>
            <a:r>
              <a:rPr sz="1500" b="0" i="1">
                <a:solidFill>
                  <a:srgbClr val="2A2E3A"/>
                </a:solidFill>
                <a:latin typeface="Calibri"/>
              </a:rPr>
              <a:t>“INCIDENT: Detect Pipeline Failure - War Room”</a:t>
            </a:r>
          </a:p>
          <a:p>
            <a:r>
              <a:rPr sz="1250" b="0" i="0">
                <a:solidFill>
                  <a:srgbClr val="6B7280"/>
                </a:solidFill>
                <a:latin typeface="Calibri"/>
              </a:rPr>
              <a:t>A cascading failure in the event-ingestion layer left customers with zero threat-monitoring visibility for ~6 hours.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91840"/>
            <a:ext cx="10881360" cy="1005840"/>
          </a:xfrm>
          <a:prstGeom prst="roundRect">
            <a:avLst>
              <a:gd name="adj" fmla="val 10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libri"/>
              </a:rPr>
              <a:t>COMMERCIAL: RENEWAL &amp; RETENTION</a:t>
            </a:r>
          </a:p>
          <a:p>
            <a:r>
              <a:rPr sz="1500" b="0" i="1">
                <a:solidFill>
                  <a:srgbClr val="2A2E3A"/>
                </a:solidFill>
                <a:latin typeface="Calibri"/>
              </a:rPr>
              <a:t>“Aegis / Blackridge Investments - Renewal Discussion”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26280"/>
            <a:ext cx="10881360" cy="1005840"/>
          </a:xfrm>
          <a:prstGeom prst="roundRect">
            <a:avLst>
              <a:gd name="adj" fmla="val 10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libri"/>
              </a:rPr>
              <a:t>TECHNICAL SUPPORT &amp; BUG RESOLUTION</a:t>
            </a:r>
          </a:p>
          <a:p>
            <a:r>
              <a:rPr sz="1500" b="0" i="1">
                <a:solidFill>
                  <a:srgbClr val="2A2E3A"/>
                </a:solidFill>
                <a:latin typeface="Calibri"/>
              </a:rPr>
              <a:t>“Support Case #8749 - Coastal Living Co SAML Certificate Rotation Bug”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CADCFC"/>
                </a:solidFill>
                <a:latin typeface="Calibri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What are people actually feeling on these calls?</a:t>
            </a:r>
          </a:p>
        </p:txBody>
      </p:sp>
      <p:sp>
        <p:nvSpPr>
          <p:cNvPr id="4" name="Oval 3"/>
          <p:cNvSpPr/>
          <p:nvPr/>
        </p:nvSpPr>
        <p:spPr>
          <a:xfrm>
            <a:off x="9692640" y="-126836"/>
            <a:ext cx="2926080" cy="2926080"/>
          </a:xfrm>
          <a:prstGeom prst="ellipse">
            <a:avLst/>
          </a:prstGeom>
          <a:solidFill>
            <a:srgbClr val="28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SENTIMENT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Calibri"/>
              </a:rPr>
              <a:t>We checked the dataset's own sentiment before trusting it</a:t>
            </a:r>
          </a:p>
        </p:txBody>
      </p:sp>
      <p:pic>
        <p:nvPicPr>
          <p:cNvPr id="4" name="Picture 3" descr="sentiment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779" y="1369929"/>
            <a:ext cx="4745540" cy="37964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691640"/>
            <a:ext cx="64008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•  Every call ships pre-computed sentiment.</a:t>
            </a:r>
            <a:r>
              <a:rPr sz="1450" b="0" i="0">
                <a:solidFill>
                  <a:srgbClr val="2A2E3A"/>
                </a:solidFill>
                <a:latin typeface="Calibri"/>
              </a:rPr>
              <a:t>  We cross-checked it with VADER, a lexicon model unrelated to whatever produced this dataset.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•  Raw per-sentence agreement: only 37%.</a:t>
            </a:r>
            <a:r>
              <a:rPr sz="1450" b="0" i="0">
                <a:solidFill>
                  <a:srgbClr val="2A2E3A"/>
                </a:solidFill>
                <a:latin typeface="Calibri"/>
              </a:rPr>
              <a:t>  Looked bad at first.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•  Why: VADER tags 78% of sentences positive</a:t>
            </a:r>
            <a:r>
              <a:rPr sz="1450" b="0" i="0">
                <a:solidFill>
                  <a:srgbClr val="2A2E3A"/>
                </a:solidFill>
                <a:latin typeface="Calibri"/>
              </a:rPr>
              <a:t>  (ordinary politeness reads as positive); the dataset's model is more conservative (56% neutral) — correctly so.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•  Aggregated to the call level: r ≈ 0.84.</a:t>
            </a:r>
            <a:r>
              <a:rPr sz="1450" b="0" i="0">
                <a:solidFill>
                  <a:srgbClr val="2A2E3A"/>
                </a:solidFill>
                <a:latin typeface="Calibri"/>
              </a:rPr>
              <a:t>  Strong agreement on overall direction and magnitude.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SENTIMENT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Calibri"/>
              </a:rPr>
              <a:t>Sentiment by call type</a:t>
            </a:r>
          </a:p>
        </p:txBody>
      </p:sp>
      <p:pic>
        <p:nvPicPr>
          <p:cNvPr id="4" name="Picture 3" descr="sentiment_by_call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554480"/>
            <a:ext cx="8046719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02920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5138928"/>
            <a:ext cx="3200400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Calibri"/>
              </a:rPr>
              <a:t>Support</a:t>
            </a:r>
          </a:p>
          <a:p>
            <a:r>
              <a:rPr sz="1300" b="0" i="0">
                <a:solidFill>
                  <a:srgbClr val="6B7280"/>
                </a:solidFill>
                <a:latin typeface="Calibri"/>
              </a:rPr>
              <a:t>avg 2.83/5   ·   63% negative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502920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5138928"/>
            <a:ext cx="3200400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Calibri"/>
              </a:rPr>
              <a:t>Internal</a:t>
            </a:r>
          </a:p>
          <a:p>
            <a:r>
              <a:rPr sz="1300" b="0" i="0">
                <a:solidFill>
                  <a:srgbClr val="6B7280"/>
                </a:solidFill>
                <a:latin typeface="Calibri"/>
              </a:rPr>
              <a:t>avg 3.42/5   ·   33% negative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502920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9" y="5138928"/>
            <a:ext cx="3200400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Calibri"/>
              </a:rPr>
              <a:t>External (AM-led)</a:t>
            </a:r>
          </a:p>
          <a:p>
            <a:r>
              <a:rPr sz="1300" b="0" i="0">
                <a:solidFill>
                  <a:srgbClr val="6B7280"/>
                </a:solidFill>
                <a:latin typeface="Calibri"/>
              </a:rPr>
              <a:t>avg 3.85/5   ·   25% negative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SENTIMENT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Calibri"/>
              </a:rPr>
              <a:t>Sentiment by theme — the problem is narrow, not diffuse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2029967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50" b="1" i="0">
                <a:solidFill>
                  <a:srgbClr val="2A2E3A"/>
                </a:solidFill>
                <a:latin typeface="Calibri"/>
              </a:rPr>
              <a:t>Incident &amp; Outage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82880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50" b="0" i="0">
                <a:solidFill>
                  <a:srgbClr val="6B7280"/>
                </a:solidFill>
                <a:latin typeface="Calibri"/>
              </a:rPr>
              <a:t>avg 2.22   ·   95% neg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3081527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50" b="1" i="0">
                <a:solidFill>
                  <a:srgbClr val="2A2E3A"/>
                </a:solidFill>
                <a:latin typeface="Calibri"/>
              </a:rPr>
              <a:t>Technical Support &amp; Bug 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88036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50" b="0" i="0">
                <a:solidFill>
                  <a:srgbClr val="6B7280"/>
                </a:solidFill>
                <a:latin typeface="Calibri"/>
              </a:rPr>
              <a:t>avg 2.59   ·   85% neg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79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8680" y="4133087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3931919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50" b="1" i="0">
                <a:solidFill>
                  <a:srgbClr val="2A2E3A"/>
                </a:solidFill>
                <a:latin typeface="Calibri"/>
              </a:rPr>
              <a:t>Competitive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931919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50" b="0" i="0">
                <a:solidFill>
                  <a:srgbClr val="6B7280"/>
                </a:solidFill>
                <a:latin typeface="Calibri"/>
              </a:rPr>
              <a:t>avg 2.82   ·   67% neg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9204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320040" cy="32004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983479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50" b="1" i="0">
                <a:solidFill>
                  <a:srgbClr val="2A2E3A"/>
                </a:solidFill>
                <a:latin typeface="Calibri"/>
              </a:rPr>
              <a:t>Product Roadmap / Compliance / Onboarding /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983479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50" b="0" i="0">
                <a:solidFill>
                  <a:srgbClr val="6B7280"/>
                </a:solidFill>
                <a:latin typeface="Calibri"/>
              </a:rPr>
              <a:t>avg 3.9 – 4.6   ·   0–5% neg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SENTIMENT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Calibri"/>
              </a:rPr>
              <a:t>The trend that matters most</a:t>
            </a:r>
          </a:p>
        </p:txBody>
      </p:sp>
      <p:pic>
        <p:nvPicPr>
          <p:cNvPr id="4" name="Picture 3" descr="sentiment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417320"/>
            <a:ext cx="9144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SENTIMENT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Calibri"/>
              </a:rPr>
              <a:t>Why this should matter to this room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108960" cy="2103120"/>
          </a:xfrm>
          <a:prstGeom prst="roundRect">
            <a:avLst>
              <a:gd name="adj" fmla="val 12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2834640" cy="18836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C0392B"/>
                </a:solidFill>
                <a:latin typeface="Calibri"/>
              </a:rPr>
              <a:t>+2 wks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support sentiment lags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internal/external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920240"/>
            <a:ext cx="740664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•  A reliability incident's true cost outlasts the “resolved” milestone</a:t>
            </a:r>
            <a:r>
              <a:rPr sz="1600" b="0" i="0">
                <a:solidFill>
                  <a:srgbClr val="2A2E3A"/>
                </a:solidFill>
                <a:latin typeface="Calibri"/>
              </a:rPr>
              <a:t>  by roughly 2 weeks of depressed customer support sentiment — a staffing and process signal, not just an SRE metric.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•  This is exactly the window where churn-risk language clusters</a:t>
            </a:r>
            <a:r>
              <a:rPr sz="1600" b="0" i="0">
                <a:solidFill>
                  <a:srgbClr val="2A2E3A"/>
                </a:solidFill>
                <a:latin typeface="Calibri"/>
              </a:rPr>
              <a:t>  (quantified next). Renewal conversations scheduled right after an incident carry extra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CADCFC"/>
                </a:solidFill>
                <a:latin typeface="Calibri"/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Beyond what we were asked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1">
                <a:solidFill>
                  <a:srgbClr val="CADCFC"/>
                </a:solidFill>
                <a:latin typeface="Calibri"/>
              </a:rPr>
              <a:t>Three insights, straight out of the same data — no new collection needed.</a:t>
            </a:r>
          </a:p>
        </p:txBody>
      </p:sp>
      <p:sp>
        <p:nvSpPr>
          <p:cNvPr id="5" name="Oval 4"/>
          <p:cNvSpPr/>
          <p:nvPr/>
        </p:nvSpPr>
        <p:spPr>
          <a:xfrm>
            <a:off x="9692640" y="548640"/>
            <a:ext cx="2926080" cy="2926080"/>
          </a:xfrm>
          <a:prstGeom prst="ellipse">
            <a:avLst/>
          </a:prstGeom>
          <a:solidFill>
            <a:srgbClr val="28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BONUS INSIGHT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Calibri"/>
              </a:rPr>
              <a:t>Incident blast radius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291840" cy="2103120"/>
          </a:xfrm>
          <a:prstGeom prst="roundRect">
            <a:avLst>
              <a:gd name="adj" fmla="val 12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3017520" cy="18836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C0392B"/>
                </a:solidFill>
                <a:latin typeface="Calibri"/>
              </a:rPr>
              <a:t>15 / 35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active customer accounts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touched within 3 weeks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of the incident (≈43%)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737360"/>
            <a:ext cx="3291840" cy="2103120"/>
          </a:xfrm>
          <a:prstGeom prst="roundRect">
            <a:avLst>
              <a:gd name="adj" fmla="val 12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0" y="1847088"/>
            <a:ext cx="3017520" cy="18836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C0392B"/>
                </a:solidFill>
                <a:latin typeface="Calibri"/>
              </a:rPr>
              <a:t>≈ 50%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drop in average sentiment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across every call type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during that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20240"/>
            <a:ext cx="3749039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A2E3A"/>
                </a:solidFill>
                <a:latin typeface="Calibri"/>
              </a:rPr>
              <a:t>•  This turns “we should invest more in reliability” from an opinion into a quantified trade-off.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A2E3A"/>
                </a:solidFill>
                <a:latin typeface="Calibri"/>
              </a:rPr>
              <a:t>•  One pipeline failure touched almost half our active book in three weeks.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BONUS INSIGHT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Calibri"/>
              </a:rPr>
              <a:t>Account health score — a worklist, not a report</a:t>
            </a:r>
          </a:p>
        </p:txBody>
      </p:sp>
      <p:pic>
        <p:nvPicPr>
          <p:cNvPr id="4" name="Picture 3" descr="account_heal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77390"/>
            <a:ext cx="5212080" cy="3909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521208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•  Blends avg sentiment, churn-topic frequency, and churn/concern key-moments</a:t>
            </a:r>
            <a:r>
              <a:rPr sz="1450" b="0" i="0">
                <a:solidFill>
                  <a:srgbClr val="2A2E3A"/>
                </a:solidFill>
                <a:latin typeface="Calibri"/>
              </a:rPr>
              <a:t>  into one 0–100 score — simple and auditable on purpose, not a black box.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•  Weakest account: northstarpharma.com, 13.8 / 100</a:t>
            </a:r>
            <a:r>
              <a:rPr sz="1450" b="0" i="0">
                <a:solidFill>
                  <a:srgbClr val="2A2E3A"/>
                </a:solidFill>
                <a:latin typeface="Calibri"/>
              </a:rPr>
              <a:t>  both of their calls were incident-driven and 100% churn-tagged.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•  Healthiest: keystonehealth.com, 92.5 /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BONUS INSIGHT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Calibri"/>
              </a:rPr>
              <a:t>Talk-time balance — an honest null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108960" cy="1828800"/>
          </a:xfrm>
          <a:prstGeom prst="roundRect">
            <a:avLst>
              <a:gd name="adj" fmla="val 12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834640" cy="1609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1E2761"/>
                </a:solidFill>
                <a:latin typeface="Calibri"/>
              </a:rPr>
              <a:t>43–67%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Aegis speaking-time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share across 70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customer-facing calls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498079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•  Inferred who's Aegis vs. customer from speaker patterns</a:t>
            </a:r>
            <a:r>
              <a:rPr sz="1450" b="0" i="0">
                <a:solidFill>
                  <a:srgbClr val="2A2E3A"/>
                </a:solidFill>
                <a:latin typeface="Calibri"/>
              </a:rPr>
              <a:t>  — no direct label exists; cleanly separates all 76 speaker names in the sample.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•  Nothing hits an extreme imbalance threshold on this sample.</a:t>
            </a:r>
            <a:r>
              <a:rPr sz="1450" b="0" i="0">
                <a:solidFill>
                  <a:srgbClr val="2A2E3A"/>
                </a:solidFill>
                <a:latin typeface="Calibri"/>
              </a:rPr>
              <a:t>  A legitimate finding, not a failed metric.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•  The pattern that does show up:</a:t>
            </a:r>
            <a:r>
              <a:rPr sz="1450" b="0" i="0">
                <a:solidFill>
                  <a:srgbClr val="2A2E3A"/>
                </a:solidFill>
                <a:latin typeface="Calibri"/>
              </a:rPr>
              <a:t>  competitive-evaluation &amp; renewal-concern calls are most customer-led (good — listening occasions); demos &amp; deployment kickoffs are most rep-led (expected — presenting occasions).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BEYOND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Calibri"/>
              </a:rPr>
              <a:t>A few more ideas we didn't build (and why that's fine)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566160" cy="3840480"/>
          </a:xfrm>
          <a:prstGeom prst="roundRect">
            <a:avLst>
              <a:gd name="adj" fmla="val 10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310896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Action-item accountability tracking</a:t>
            </a:r>
          </a:p>
          <a:p>
            <a:r>
              <a:rPr sz="1350" b="0" i="0">
                <a:solidFill>
                  <a:srgbClr val="6B7280"/>
                </a:solidFill>
                <a:latin typeface="Calibri"/>
              </a:rPr>
              <a:t>Every call has structured action items with an owner; matching commitments to later follow-through would surface a “promised but never closed” 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566160" cy="3840480"/>
          </a:xfrm>
          <a:prstGeom prst="roundRect">
            <a:avLst>
              <a:gd name="adj" fmla="val 10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2103120"/>
            <a:ext cx="310896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Competitive early-warning</a:t>
            </a:r>
          </a:p>
          <a:p>
            <a:r>
              <a:rPr sz="1350" b="0" i="0">
                <a:solidFill>
                  <a:srgbClr val="6B7280"/>
                </a:solidFill>
                <a:latin typeface="Calibri"/>
              </a:rPr>
              <a:t>Cross-reference competitive-mention tags with account health scores to flag low-health accounts actively evaluating a competitor.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828800"/>
            <a:ext cx="3566160" cy="3840480"/>
          </a:xfrm>
          <a:prstGeom prst="roundRect">
            <a:avLst>
              <a:gd name="adj" fmla="val 10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19" y="2103120"/>
            <a:ext cx="310896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Next-best-action per call</a:t>
            </a:r>
          </a:p>
          <a:p>
            <a:r>
              <a:rPr sz="1350" b="0" i="0">
                <a:solidFill>
                  <a:srgbClr val="6B7280"/>
                </a:solidFill>
                <a:latin typeface="Calibri"/>
              </a:rPr>
              <a:t>Turn today's after-the-fact action-item summary into a live suggestion (e.g. “escalate to engineering,” “schedule an exec check-in”).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Calibri"/>
              </a:rPr>
              <a:t>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881360" cy="1170432"/>
          </a:xfrm>
          <a:prstGeom prst="roundRect">
            <a:avLst>
              <a:gd name="adj" fmla="val 10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203911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810512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A2E3A"/>
                </a:solidFill>
                <a:latin typeface="Calibri"/>
              </a:rPr>
              <a:t>Give support leadership a 2-3 week “post-incident support surge” playbook</a:t>
            </a:r>
          </a:p>
          <a:p>
            <a:r>
              <a:rPr sz="1250" b="0" i="0">
                <a:solidFill>
                  <a:srgbClr val="6B7280"/>
                </a:solidFill>
                <a:latin typeface="Calibri"/>
              </a:rPr>
              <a:t>Support sentiment lags recovery by that long every time; proactive outreach in that window is cheap insurance against churn.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90088"/>
            <a:ext cx="10881360" cy="1170432"/>
          </a:xfrm>
          <a:prstGeom prst="roundRect">
            <a:avLst>
              <a:gd name="adj" fmla="val 10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3337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10896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A2E3A"/>
                </a:solidFill>
                <a:latin typeface="Calibri"/>
              </a:rPr>
              <a:t>Feed the account health score into the CS/AM workflow</a:t>
            </a:r>
          </a:p>
          <a:p>
            <a:r>
              <a:rPr sz="1250" b="0" i="0">
                <a:solidFill>
                  <a:srgbClr val="6B7280"/>
                </a:solidFill>
                <a:latin typeface="Calibri"/>
              </a:rPr>
              <a:t>A ranked worklist beats reading transcripts. Northstar Pharma should have a save-play now, not at renewal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88536"/>
            <a:ext cx="10881360" cy="1170432"/>
          </a:xfrm>
          <a:prstGeom prst="roundRect">
            <a:avLst>
              <a:gd name="adj" fmla="val 10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4636007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407407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A2E3A"/>
                </a:solidFill>
                <a:latin typeface="Calibri"/>
              </a:rPr>
              <a:t>Treat reliability as a commercial metric, not just an SRE one</a:t>
            </a:r>
          </a:p>
          <a:p>
            <a:r>
              <a:rPr sz="1250" b="0" i="0">
                <a:solidFill>
                  <a:srgbClr val="6B7280"/>
                </a:solidFill>
                <a:latin typeface="Calibri"/>
              </a:rPr>
              <a:t>43% blast radius on a single incident is a number worth putting in front of the exec team alongside uptime 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586983"/>
            <a:ext cx="10881360" cy="1170432"/>
          </a:xfrm>
          <a:prstGeom prst="roundRect">
            <a:avLst>
              <a:gd name="adj" fmla="val 10000"/>
            </a:avLst>
          </a:prstGeom>
          <a:solidFill>
            <a:srgbClr val="F0F3FB"/>
          </a:solidFill>
          <a:ln>
            <a:noFill/>
          </a:ln>
          <a:effectLst>
            <a:outerShdw blurRad="152400" dist="38100" dir="27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8680" y="593445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705855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A2E3A"/>
                </a:solidFill>
                <a:latin typeface="Calibri"/>
              </a:rPr>
              <a:t>Extend the taxonomy's validation step into an ongoing QA loop</a:t>
            </a:r>
          </a:p>
          <a:p>
            <a:r>
              <a:rPr sz="1250" b="0" i="0">
                <a:solidFill>
                  <a:srgbClr val="6B7280"/>
                </a:solidFill>
                <a:latin typeface="Calibri"/>
              </a:rPr>
              <a:t>Cheap, and keeps the categorizer honest as call volume grows.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28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0" i="1">
                <a:solidFill>
                  <a:srgbClr val="CADCFC"/>
                </a:solidFill>
                <a:latin typeface="Calibri"/>
              </a:rPr>
              <a:t>Questions &amp; Q&amp;A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608579-E101-BD42-70AE-BCD147DCA51E}"/>
              </a:ext>
            </a:extLst>
          </p:cNvPr>
          <p:cNvSpPr txBox="1"/>
          <p:nvPr/>
        </p:nvSpPr>
        <p:spPr>
          <a:xfrm>
            <a:off x="6481916" y="6503443"/>
            <a:ext cx="5601929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700" b="0" i="1" dirty="0">
                <a:solidFill>
                  <a:srgbClr val="CADCFC"/>
                </a:solidFill>
                <a:latin typeface="Calibri"/>
              </a:rPr>
              <a:t>Prashanth Kumar G V | Assignment submission – 10-July- 2026</a:t>
            </a:r>
            <a:endParaRPr sz="1700" b="0" i="1" dirty="0">
              <a:solidFill>
                <a:srgbClr val="CADCFC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2047</Words>
  <Application>Microsoft Office PowerPoint</Application>
  <PresentationFormat>Widescreen</PresentationFormat>
  <Paragraphs>200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PRASHANTH KUMAR</dc:creator>
  <cp:keywords/>
  <dc:description>generated using python-pptx</dc:description>
  <cp:lastModifiedBy>PRASHANTH KUMAR</cp:lastModifiedBy>
  <cp:revision>2</cp:revision>
  <dcterms:created xsi:type="dcterms:W3CDTF">2013-01-27T09:14:16Z</dcterms:created>
  <dcterms:modified xsi:type="dcterms:W3CDTF">2026-07-10T03:21:56Z</dcterms:modified>
  <cp:category/>
</cp:coreProperties>
</file>